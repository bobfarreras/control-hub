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7122B"/>
                </a:solidFill>
              </a:rPr>
              <a:t>Control Hub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67512" y="1417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86276"/>
                </a:solidFill>
              </a:rPr>
              <a:t>Decisió d’arquitectura per a una plataforma centralitzada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Objectiu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532888"/>
            <a:ext cx="585216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Tenir en un sol lloc clients, leads, tickets, subscripcions, productes, automatitzacions, costos, errors i salut tècnica de la empresa.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903720" y="731520"/>
            <a:ext cx="4480560" cy="1170432"/>
          </a:xfrm>
          <a:prstGeom prst="rect">
            <a:avLst/>
          </a:prstGeom>
          <a:solidFill>
            <a:srgbClr val="EEF5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55D9"/>
                </a:solidFill>
              </a:rPr>
              <a:t>Decisió principal
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Control Hub propi en Docker sobre VPS, amb Cloudflare i Traefik davant.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03720" y="2148840"/>
            <a:ext cx="448056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55D9"/>
                </a:solidFill>
              </a:rPr>
              <a:t>Stack base
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Next.js · Fastify · PostgreSQL · Redis · n8n · Docker Compose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03720" y="3566160"/>
            <a:ext cx="448056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55D9"/>
                </a:solidFill>
              </a:rPr>
              <a:t>Criteri tècnic
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Monòlit modular escalable: simple ara, separable en serveis quan creixi.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10698480" cy="914400"/>
          </a:xfrm>
          <a:prstGeom prst="rect">
            <a:avLst/>
          </a:prstGeom>
          <a:solidFill>
            <a:srgbClr val="F5F8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7122B"/>
                </a:solidFill>
              </a:rPr>
              <a:t>Resultat esperat
</a:t>
            </a:r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Una base professional, controlada i mantenible per començar a vendre productes d’IA i automatitzacions sense generar deute tècnic.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519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276"/>
                </a:solidFill>
              </a:rPr>
              <a:t>Responsable tècnic: Adrià   ·   Validació i pressupost: Enric   ·   Titularitat dels serveis: Empresa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5D9"/>
                </a:solidFill>
              </a:rPr>
              <a:t>Proposta d’arquitectura · Control 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22B"/>
                </a:solidFill>
              </a:rPr>
              <a:t>ADR-001 · Plataforma pròpia en VPS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566928" cy="36576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86276"/>
                </a:solidFill>
              </a:rPr>
              <a:t>Decisió: desplegar el Control Hub en Docker sobre la VPS de l’empresa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5661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Problema
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Necessitem una plataforma interna amb control de dades, automatitzacions, infraestructura i costos.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15968" y="1828800"/>
            <a:ext cx="3566160" cy="1143000"/>
          </a:xfrm>
          <a:prstGeom prst="rect">
            <a:avLst/>
          </a:prstGeom>
          <a:solidFill>
            <a:srgbClr val="EEF5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Decisió
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Control Hub propi: web, API, workers, PostgreSQL, Redis, n8n i monitoratge en Docker Compose.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28432" y="1828800"/>
            <a:ext cx="35661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Per què
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Costos previsibles, més control tècnic, millor integració amb n8n/VPS i menys dependència externa.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356616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No farem ara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Microserveis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Kubernetes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Supabase complet autohosted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n8n com a backend principal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15968" y="3337560"/>
            <a:ext cx="3566160" cy="1325880"/>
          </a:xfrm>
          <a:prstGeom prst="rect">
            <a:avLst/>
          </a:prstGeom>
          <a:solidFill>
            <a:srgbClr val="F5F8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Sí farem ara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Monòlit modular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API pròpia amb permisos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Workers per tasques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Backups i observabilitat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28432" y="3337560"/>
            <a:ext cx="356616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Conseqüència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Podem començar en una sola VPS i separar base de dades, n8n o workers quan hi hagi volum real.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5074920"/>
            <a:ext cx="110185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55D9"/>
                </a:solidFill>
              </a:rPr>
              <a:t>VPS recomanada
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Cloud VPS Plus 8 · 8 vCPU · 24 GB RAM · 450 GB NVMe · 5 snapshots · 1 Gbit/s · 33,88 €/mes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19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276"/>
                </a:solidFill>
              </a:rPr>
              <a:t>Responsable tècnic: Adrià   ·   Validació i pressupost: Enric   ·   Titularitat dels serveis: Empresa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5D9"/>
                </a:solidFill>
              </a:rPr>
              <a:t>Proposta d’arquitectura · Control 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22B"/>
                </a:solidFill>
              </a:rPr>
              <a:t>Topologia de desplegament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566928" cy="36576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86276"/>
                </a:solidFill>
              </a:rPr>
              <a:t>Com quedarien els serveis principals dins de la VPS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828800" cy="822960"/>
          </a:xfrm>
          <a:prstGeom prst="rect">
            <a:avLst/>
          </a:prstGeom>
          <a:solidFill>
            <a:srgbClr val="EEF5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Cloudflare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DNS · SSL · protecció bàsica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24912" y="2057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55D9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46120" y="1874520"/>
            <a:ext cx="1645920" cy="822960"/>
          </a:xfrm>
          <a:prstGeom prst="rect">
            <a:avLst/>
          </a:prstGeom>
          <a:solidFill>
            <a:srgbClr val="EEF5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Traefik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Proxy invers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4920" y="20574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455D9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23560" y="1828800"/>
            <a:ext cx="2423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Control Hub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Next.js Web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Fastify API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Worker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75320" y="1828800"/>
            <a:ext cx="2423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Automatitzacions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n8n main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n8n workers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23560" y="3200400"/>
            <a:ext cx="2423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Dades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PostgreSQL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Redis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75320" y="3200400"/>
            <a:ext cx="2423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Monitoratge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Uptime Kuma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Prometheus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Sentry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4389120" cy="914400"/>
          </a:xfrm>
          <a:prstGeom prst="rect">
            <a:avLst/>
          </a:prstGeom>
          <a:solidFill>
            <a:srgbClr val="F5F8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22B"/>
                </a:solidFill>
              </a:rPr>
              <a:t>Regla clau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PostgreSQL i Redis no exposen ports públics. Només serveis web passen per Traefik.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715000" y="4709160"/>
            <a:ext cx="4983480" cy="914400"/>
          </a:xfrm>
          <a:prstGeom prst="rect">
            <a:avLst/>
          </a:prstGeom>
          <a:solidFill>
            <a:srgbClr val="F5F8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22B"/>
                </a:solidFill>
              </a:rPr>
              <a:t>Backups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Còpia local xifrada + còpia externa S3. Els snapshots no substitueixen els backups.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" y="6519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276"/>
                </a:solidFill>
              </a:rPr>
              <a:t>Responsable tècnic: Adrià   ·   Validació i pressupost: Enric   ·   Titularitat dels serveis: Empresa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5D9"/>
                </a:solidFill>
              </a:rPr>
              <a:t>Proposta d’arquitectura · Control 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22B"/>
                </a:solidFill>
              </a:rPr>
              <a:t>Stack tecnològic recomanat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566928" cy="36576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86276"/>
                </a:solidFill>
              </a:rPr>
              <a:t>Una base moderna, tipada, testejable i mantenible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24028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Frontend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Next.js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React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TypeScript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Tailwind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shadcn/ui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971800" y="1828800"/>
            <a:ext cx="2240280" cy="1874520"/>
          </a:xfrm>
          <a:prstGeom prst="rect">
            <a:avLst/>
          </a:prstGeom>
          <a:solidFill>
            <a:srgbClr val="EEF5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Backend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Fastify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TypeScript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Zod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OpenAPI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Permisos al servidor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49240" y="1828800"/>
            <a:ext cx="224028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Dades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PostgreSQL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Drizzle ORM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Migracions SQL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Redis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S3 extern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26680" y="1828800"/>
            <a:ext cx="224028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Automatització
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n8n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Webhooks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Workers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BullMQ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• Events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104120" y="1828800"/>
            <a:ext cx="1508760" cy="187452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IA
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OpenAI API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Anthropic API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Gateway propi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4251960"/>
            <a:ext cx="11018520" cy="1097280"/>
          </a:xfrm>
          <a:prstGeom prst="rect">
            <a:avLst/>
          </a:prstGeom>
          <a:solidFill>
            <a:srgbClr val="F5F8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22B"/>
                </a:solidFill>
              </a:rPr>
              <a:t>Principi d’arquitectura
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El Control Hub és la font de veritat empresarial. n8n executa integracions. Prometheus/Sentry observen. PostgreSQL guarda l’estat. La API aplica regles i permisos.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519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276"/>
                </a:solidFill>
              </a:rPr>
              <a:t>Responsable tècnic: Adrià   ·   Validació i pressupost: Enric   ·   Titularitat dels serveis: Empresa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5D9"/>
                </a:solidFill>
              </a:rPr>
              <a:t>Proposta d’arquitectura · Control 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22B"/>
                </a:solidFill>
              </a:rPr>
              <a:t>Mòduls del Control Hub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566928" cy="36576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86276"/>
                </a:solidFill>
              </a:rPr>
              <a:t>MVP inicial i preparació per créixer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6060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Negoci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Dashboard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Leads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Clients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Contactes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Pressupostos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474720" y="1828800"/>
            <a:ext cx="26060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Producte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Productes propis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Plans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Subscripcions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Versions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Consum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55080" y="1828800"/>
            <a:ext cx="26060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Operacions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Tickets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Tasques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Incidències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Automatitzacions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Documentació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235440" y="1828800"/>
            <a:ext cx="23317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Tecnologia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VPS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Serveis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Errors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Backups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APIs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3429000"/>
            <a:ext cx="27432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Finances bàsiques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Cost fix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Cost variable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MRR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Marge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Renovacions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3429000"/>
            <a:ext cx="2743200" cy="1234440"/>
          </a:xfrm>
          <a:prstGeom prst="rect">
            <a:avLst/>
          </a:prstGeom>
          <a:solidFill>
            <a:srgbClr val="EEF5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Salut empresa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Comercial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Financera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Operativa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Tècnica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3429000"/>
            <a:ext cx="237744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Seguretat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Usuaris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Rols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Auditoria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MFA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281160" y="3429000"/>
            <a:ext cx="22860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Futur portal client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Clients accedeixen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Tickets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Documents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Estat serveis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120640"/>
            <a:ext cx="10972800" cy="594360"/>
          </a:xfrm>
          <a:prstGeom prst="rect">
            <a:avLst/>
          </a:prstGeom>
          <a:solidFill>
            <a:srgbClr val="F5F8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MVP recomanat
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Primeres pantalles: Dashboard · Leads · Clients · Productes · Subscripcions · Tickets · Infraestructura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6519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276"/>
                </a:solidFill>
              </a:rPr>
              <a:t>Responsable tècnic: Adrià   ·   Validació i pressupost: Enric   ·   Titularitat dels serveis: Empresa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5D9"/>
                </a:solidFill>
              </a:rPr>
              <a:t>Proposta d’arquitectura · Control 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22B"/>
                </a:solidFill>
              </a:rPr>
              <a:t>Integracions clau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566928" cy="36576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86276"/>
                </a:solidFill>
              </a:rPr>
              <a:t>Com vincularem VPS, n8n, errors, tickets i salut tècnica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n8n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API oficial i webhooks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Workflows associats a clients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Errors agrupats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Execucions i últim estat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VPS i contenidors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Node Exporter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cAdvisor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Prometheus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CPU/RAM/disc/uptime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Errors i incidències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Sentry webhooks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Agrupació per fingerprint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Incidència si supera llindar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Notificació a Adrià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3520440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Tickets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Manuals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Web / formulari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Correu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WhatsApp o trucada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89120" y="3520440"/>
            <a:ext cx="3383280" cy="1234440"/>
          </a:xfrm>
          <a:prstGeom prst="rect">
            <a:avLst/>
          </a:prstGeom>
          <a:solidFill>
            <a:srgbClr val="EEF5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Consum IA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Proveïdor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Model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Tokens/minuts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Cost per client i producte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83880" y="3520440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Alertes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Cost elevat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Servei caigut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Backup fallat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Renovació pròxima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5166360"/>
            <a:ext cx="10972800" cy="594360"/>
          </a:xfrm>
          <a:prstGeom prst="rect">
            <a:avLst/>
          </a:prstGeom>
          <a:solidFill>
            <a:srgbClr val="F5F8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22B"/>
                </a:solidFill>
              </a:rPr>
              <a:t>Regla de seguretat
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El panell consulta dades agregades i APIs segures. No executa SSH lliure ni manipula directament les taules internes de n8n.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6519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276"/>
                </a:solidFill>
              </a:rPr>
              <a:t>Responsable tècnic: Adrià   ·   Validació i pressupost: Enric   ·   Titularitat dels serveis: Empresa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5D9"/>
                </a:solidFill>
              </a:rPr>
              <a:t>Proposta d’arquitectura · Control 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22B"/>
                </a:solidFill>
              </a:rPr>
              <a:t>Seguretat i vulnerabilitats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566928" cy="36576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86276"/>
                </a:solidFill>
              </a:rPr>
              <a:t>Controls obligatoris des del primer dia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Identitat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MFA per Adrià i Enric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Sessions segures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RBAC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Permisos a la API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11880" y="182880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Secrets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Mai al Git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Variables protegides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Rotació de claus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Accés mínim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242316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Web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HTTPS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CSP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CORS restrictiu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Rate limit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281160" y="1828800"/>
            <a:ext cx="22860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Docker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No root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Versions fixades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Healthchecks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Sense Docker socket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342900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Dades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organization_id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Auditoria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Backups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Soft delete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3429000"/>
            <a:ext cx="2743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Webhooks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Firma HMAC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Timestamp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Idempotència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Validació Zod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3429000"/>
            <a:ext cx="242316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CI Security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Trivy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Gitleaks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CodeQL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Dependabot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281160" y="3429000"/>
            <a:ext cx="22860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Auditoria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Qui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Què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Quan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Abans/després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166360"/>
            <a:ext cx="10972800" cy="594360"/>
          </a:xfrm>
          <a:prstGeom prst="rect">
            <a:avLst/>
          </a:prstGeom>
          <a:solidFill>
            <a:srgbClr val="F5F8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22B"/>
                </a:solidFill>
              </a:rPr>
              <a:t>Objectiu
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Evitar exposició de dades, escalada de permisos, secrets filtrats, errors no detectats i accés creuat entre organitzacions.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6519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276"/>
                </a:solidFill>
              </a:rPr>
              <a:t>Responsable tècnic: Adrià   ·   Validació i pressupost: Enric   ·   Titularitat dels serveis: Empresa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5D9"/>
                </a:solidFill>
              </a:rPr>
              <a:t>Proposta d’arquitectura · Control 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22B"/>
                </a:solidFill>
              </a:rPr>
              <a:t>Qualitat professional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566928" cy="36576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86276"/>
                </a:solidFill>
              </a:rPr>
              <a:t>Programar sense deute tècnic: SOLID, SDD i TDD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4290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SOLID aplicat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Casos d’ús petits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Repositoris per interfície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Proveïdors substituïbles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Frontend sense lògica crítica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3429000" cy="1417320"/>
          </a:xfrm>
          <a:prstGeom prst="rect">
            <a:avLst/>
          </a:prstGeom>
          <a:solidFill>
            <a:srgbClr val="EEF5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SDD · Spec Driven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Especificació abans de codificar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Criteris d’acceptació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Model de dades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Pla de proves i seguretat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83880" y="1828800"/>
            <a:ext cx="33832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TDD pragmàtic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Regles de negoci primer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Unit tests amb Vitest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Integració amb Testcontainers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E2E amb Playwright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3703320"/>
            <a:ext cx="34290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Definition of Done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Tests passen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Typecheck i lint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Permisos i auditoria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Observabilitat mínima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89120" y="3703320"/>
            <a:ext cx="34290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ADR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Decisions documentades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Alternatives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Conseqüències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Responsables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83880" y="3703320"/>
            <a:ext cx="33832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Regles anti-deute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No any injustificat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No credencials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No SQL manual dispers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No migracions a mà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6519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276"/>
                </a:solidFill>
              </a:rPr>
              <a:t>Responsable tècnic: Adrià   ·   Validació i pressupost: Enric   ·   Titularitat dels serveis: Empresa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5D9"/>
                </a:solidFill>
              </a:rPr>
              <a:t>Proposta d’arquitectura · Control 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22B"/>
                </a:solidFill>
              </a:rPr>
              <a:t>CI/CD, entorns i backups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566928" cy="36576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86276"/>
                </a:solidFill>
              </a:rPr>
              <a:t>Com desplegar sense trencar producció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246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Entorns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Local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Staging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Producció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Secrets separats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60520" y="1828800"/>
            <a:ext cx="3429000" cy="1234440"/>
          </a:xfrm>
          <a:prstGeom prst="rect">
            <a:avLst/>
          </a:prstGeom>
          <a:solidFill>
            <a:srgbClr val="EEF5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Pipeline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Install reproducible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Typecheck + lint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Tests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Build Docker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Security scans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09560" y="1828800"/>
            <a:ext cx="36118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Desplegament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Imatges versionades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GHCR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No latest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Smoke tests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Rollback possible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3474720"/>
            <a:ext cx="3246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Migracions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Backup abans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Canvis compatibles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Verificació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Destructives després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160520" y="3474720"/>
            <a:ext cx="34290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Backups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PostgreSQL diari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Retenció 7/30/90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S3 extern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Prova restauració mensual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09560" y="3474720"/>
            <a:ext cx="361188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Observabilitat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Request ID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Logs estructurats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Mètriques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Alertes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Uptime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5166360"/>
            <a:ext cx="10972800" cy="594360"/>
          </a:xfrm>
          <a:prstGeom prst="rect">
            <a:avLst/>
          </a:prstGeom>
          <a:solidFill>
            <a:srgbClr val="F5F8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22B"/>
                </a:solidFill>
              </a:rPr>
              <a:t>Norma de producció
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Cap canvi crític entra sense passar per CI, revisió, proves i possibilitat de rollback.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6519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276"/>
                </a:solidFill>
              </a:rPr>
              <a:t>Responsable tècnic: Adrià   ·   Validació i pressupost: Enric   ·   Titularitat dels serveis: Empresa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5D9"/>
                </a:solidFill>
              </a:rPr>
              <a:t>Proposta d’arquitectura · Control 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7122B"/>
                </a:solidFill>
              </a:rPr>
              <a:t>Roadmap d’implementació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179576"/>
            <a:ext cx="566928" cy="36576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0698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86276"/>
                </a:solidFill>
              </a:rPr>
              <a:t>Fases recomanades per construir el Control Hub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103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Fase 0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Base tècnica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Monorepo · Docker · CI · Auth · UI base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880360" y="1828800"/>
            <a:ext cx="2103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Fase 1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Nucli negoci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Dashboard · Leads · Clients · Activitat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66360" y="1828800"/>
            <a:ext cx="2103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Fase 2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Productes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Plans · Subscripcions · MRR · Marges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52360" y="1828800"/>
            <a:ext cx="210312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Fase 3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Suport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Tickets · SLA · Comentaris · Notificacions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38360" y="1828800"/>
            <a:ext cx="18288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Fase 4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Infra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VPS · Serveis · Backups · Alertes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3657600"/>
            <a:ext cx="3383280" cy="1097280"/>
          </a:xfrm>
          <a:prstGeom prst="rect">
            <a:avLst/>
          </a:prstGeom>
          <a:solidFill>
            <a:srgbClr val="EEF5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Fase 5 · n8n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Workflows, execucions, errors, estat i associació amb clients/productes.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89120" y="3657600"/>
            <a:ext cx="33832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Fase 6 · Costos IA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Tokens, minuts, WhatsApp/SMS, telefonia i marge real per client.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83880" y="3657600"/>
            <a:ext cx="33832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8E2F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Fase 7 · Portal client
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Accés opcional per clients: tickets, documents, estat i serveis contractats.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257800"/>
            <a:ext cx="10972800" cy="548640"/>
          </a:xfrm>
          <a:prstGeom prst="rect">
            <a:avLst/>
          </a:prstGeom>
          <a:solidFill>
            <a:srgbClr val="F5F8FF"/>
          </a:solidFill>
          <a:ln>
            <a:solidFill>
              <a:srgbClr val="1455D9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55D9"/>
                </a:solidFill>
              </a:rPr>
              <a:t>Proposta de sortida
</a:t>
            </a:r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Començar amb les 7 pantalles clau i integrar n8n/VPS després de tenir el nucli de negoci estable.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6519672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86276"/>
                </a:solidFill>
              </a:rPr>
              <a:t>Responsable tècnic: Adrià   ·   Validació i pressupost: Enric   ·   Titularitat dels serveis: Empresa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Empresa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Hub - Decisió d’arquitectura</dc:title>
  <dc:subject>Decisió d’arquitectura Control Hub</dc:subject>
  <dc:creator>Adrià / Enric</dc:creator>
  <cp:lastModifiedBy>Adrià / Enric</cp:lastModifiedBy>
  <cp:revision>1</cp:revision>
  <dcterms:created xsi:type="dcterms:W3CDTF">2026-07-31T13:17:05Z</dcterms:created>
  <dcterms:modified xsi:type="dcterms:W3CDTF">2026-07-31T13:17:05Z</dcterms:modified>
</cp:coreProperties>
</file>